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43469" y="-5098832"/>
            <a:ext cx="12906806" cy="12906806"/>
          </a:xfrm>
          <a:custGeom>
            <a:avLst/>
            <a:gdLst/>
            <a:ahLst/>
            <a:cxnLst/>
            <a:rect l="l" t="t" r="r" b="b"/>
            <a:pathLst>
              <a:path w="12906806" h="12906806">
                <a:moveTo>
                  <a:pt x="0" y="0"/>
                </a:moveTo>
                <a:lnTo>
                  <a:pt x="12906806" y="0"/>
                </a:lnTo>
                <a:lnTo>
                  <a:pt x="12906806" y="12906806"/>
                </a:lnTo>
                <a:lnTo>
                  <a:pt x="0" y="12906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740384" y="7532415"/>
            <a:ext cx="6099525" cy="1330805"/>
          </a:xfrm>
          <a:custGeom>
            <a:avLst/>
            <a:gdLst/>
            <a:ahLst/>
            <a:cxnLst/>
            <a:rect l="l" t="t" r="r" b="b"/>
            <a:pathLst>
              <a:path w="6099525" h="1330805">
                <a:moveTo>
                  <a:pt x="6099525" y="0"/>
                </a:moveTo>
                <a:lnTo>
                  <a:pt x="0" y="0"/>
                </a:lnTo>
                <a:lnTo>
                  <a:pt x="0" y="1330805"/>
                </a:lnTo>
                <a:lnTo>
                  <a:pt x="6099525" y="1330805"/>
                </a:lnTo>
                <a:lnTo>
                  <a:pt x="609952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1714" y="1073165"/>
            <a:ext cx="788039" cy="1038957"/>
          </a:xfrm>
          <a:custGeom>
            <a:avLst/>
            <a:gdLst/>
            <a:ahLst/>
            <a:cxnLst/>
            <a:rect l="l" t="t" r="r" b="b"/>
            <a:pathLst>
              <a:path w="788039" h="1038957">
                <a:moveTo>
                  <a:pt x="0" y="0"/>
                </a:moveTo>
                <a:lnTo>
                  <a:pt x="788039" y="0"/>
                </a:lnTo>
                <a:lnTo>
                  <a:pt x="788039" y="1038957"/>
                </a:lnTo>
                <a:lnTo>
                  <a:pt x="0" y="1038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47074" y="1290142"/>
            <a:ext cx="2658111" cy="488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349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MediMap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57149" y="7846074"/>
            <a:ext cx="8110538" cy="35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8"/>
              </a:lnSpc>
            </a:pPr>
            <a:r>
              <a:rPr lang="en-US" sz="25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 :- SparkX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135" y="2479608"/>
            <a:ext cx="9582335" cy="319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76"/>
              </a:lnSpc>
            </a:pPr>
            <a:r>
              <a:rPr lang="en-US" sz="44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MediMap is the first platform combining price transparency, prescription intelligence, and location-based pharmacy discovery.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8470" y="5349586"/>
            <a:ext cx="3471677" cy="369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279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Members:-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44490" y="5340061"/>
            <a:ext cx="3500406" cy="162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3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Parul</a:t>
            </a:r>
          </a:p>
          <a:p>
            <a:pPr algn="l">
              <a:lnSpc>
                <a:spcPts val="3112"/>
              </a:lnSpc>
            </a:pPr>
            <a:r>
              <a:rPr lang="en-US" sz="3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Mayank Bedi </a:t>
            </a:r>
          </a:p>
          <a:p>
            <a:pPr algn="l">
              <a:lnSpc>
                <a:spcPts val="3112"/>
              </a:lnSpc>
            </a:pPr>
            <a:r>
              <a:rPr lang="en-US" sz="3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Amit Bhushan</a:t>
            </a:r>
          </a:p>
          <a:p>
            <a:pPr marL="0" lvl="0" indent="0" algn="l">
              <a:lnSpc>
                <a:spcPts val="3112"/>
              </a:lnSpc>
            </a:pPr>
            <a:r>
              <a:rPr lang="en-US" sz="3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Dhanveen Mehta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5420970" y="-6253785"/>
            <a:ext cx="14564970" cy="14564970"/>
          </a:xfrm>
          <a:custGeom>
            <a:avLst/>
            <a:gdLst/>
            <a:ahLst/>
            <a:cxnLst/>
            <a:rect l="l" t="t" r="r" b="b"/>
            <a:pathLst>
              <a:path w="14564970" h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18099" y="6465052"/>
            <a:ext cx="9869980" cy="9869980"/>
          </a:xfrm>
          <a:custGeom>
            <a:avLst/>
            <a:gdLst/>
            <a:ahLst/>
            <a:cxnLst/>
            <a:rect l="l" t="t" r="r" b="b"/>
            <a:pathLst>
              <a:path w="9869980" h="9869980">
                <a:moveTo>
                  <a:pt x="0" y="0"/>
                </a:moveTo>
                <a:lnTo>
                  <a:pt x="9869981" y="0"/>
                </a:lnTo>
                <a:lnTo>
                  <a:pt x="9869981" y="9869980"/>
                </a:lnTo>
                <a:lnTo>
                  <a:pt x="0" y="9869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85735" y="1572195"/>
            <a:ext cx="7958265" cy="5152932"/>
            <a:chOff x="0" y="0"/>
            <a:chExt cx="10611020" cy="6870576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1948" b="1948"/>
            <a:stretch>
              <a:fillRect/>
            </a:stretch>
          </p:blipFill>
          <p:spPr>
            <a:xfrm>
              <a:off x="0" y="0"/>
              <a:ext cx="10611020" cy="6870576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9937118" y="1200074"/>
            <a:ext cx="6024436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37118" y="2641641"/>
            <a:ext cx="6646446" cy="429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Millions of Peoples struggle to afford their prescriptions. Prices vary wildly between pharmacies—sometimes by hundreds of rupees—yet this information remains hidden. For elderly, uninsured, and low-income individuals, this lack of transparency can mean choosing between medication and other essentials.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33938">
            <a:off x="8102525" y="-1178810"/>
            <a:ext cx="17455984" cy="17455984"/>
          </a:xfrm>
          <a:custGeom>
            <a:avLst/>
            <a:gdLst/>
            <a:ahLst/>
            <a:cxnLst/>
            <a:rect l="l" t="t" r="r" b="b"/>
            <a:pathLst>
              <a:path w="17455984" h="17455984">
                <a:moveTo>
                  <a:pt x="0" y="0"/>
                </a:moveTo>
                <a:lnTo>
                  <a:pt x="17455984" y="0"/>
                </a:lnTo>
                <a:lnTo>
                  <a:pt x="17455984" y="17455984"/>
                </a:lnTo>
                <a:lnTo>
                  <a:pt x="0" y="17455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72022" y="2217763"/>
            <a:ext cx="5851474" cy="5851474"/>
            <a:chOff x="0" y="0"/>
            <a:chExt cx="7801965" cy="7801965"/>
          </a:xfrm>
        </p:grpSpPr>
        <p:sp>
          <p:nvSpPr>
            <p:cNvPr id="4" name="AutoShape 4"/>
            <p:cNvSpPr/>
            <p:nvPr/>
          </p:nvSpPr>
          <p:spPr>
            <a:xfrm rot="-2700000">
              <a:off x="-1543944" y="3829086"/>
              <a:ext cx="10889852" cy="0"/>
            </a:xfrm>
            <a:prstGeom prst="line">
              <a:avLst/>
            </a:prstGeom>
            <a:ln w="1397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 rot="2700000">
              <a:off x="-1543944" y="3829086"/>
              <a:ext cx="10889852" cy="0"/>
            </a:xfrm>
            <a:prstGeom prst="line">
              <a:avLst/>
            </a:prstGeom>
            <a:ln w="1397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Freeform 6"/>
          <p:cNvSpPr/>
          <p:nvPr/>
        </p:nvSpPr>
        <p:spPr>
          <a:xfrm rot="-5400000">
            <a:off x="10911508" y="3776970"/>
            <a:ext cx="1945377" cy="2714005"/>
          </a:xfrm>
          <a:custGeom>
            <a:avLst/>
            <a:gdLst/>
            <a:ahLst/>
            <a:cxnLst/>
            <a:rect l="l" t="t" r="r" b="b"/>
            <a:pathLst>
              <a:path w="1945377" h="2714005">
                <a:moveTo>
                  <a:pt x="0" y="0"/>
                </a:moveTo>
                <a:lnTo>
                  <a:pt x="1945377" y="0"/>
                </a:lnTo>
                <a:lnTo>
                  <a:pt x="1945377" y="2714005"/>
                </a:lnTo>
                <a:lnTo>
                  <a:pt x="0" y="2714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01403" y="6220627"/>
            <a:ext cx="1202178" cy="1774980"/>
          </a:xfrm>
          <a:custGeom>
            <a:avLst/>
            <a:gdLst/>
            <a:ahLst/>
            <a:cxnLst/>
            <a:rect l="l" t="t" r="r" b="b"/>
            <a:pathLst>
              <a:path w="1202178" h="1774980">
                <a:moveTo>
                  <a:pt x="0" y="0"/>
                </a:moveTo>
                <a:lnTo>
                  <a:pt x="1202178" y="0"/>
                </a:lnTo>
                <a:lnTo>
                  <a:pt x="1202178" y="1774980"/>
                </a:lnTo>
                <a:lnTo>
                  <a:pt x="0" y="1774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44832" y="4112393"/>
            <a:ext cx="1690300" cy="2453179"/>
          </a:xfrm>
          <a:custGeom>
            <a:avLst/>
            <a:gdLst/>
            <a:ahLst/>
            <a:cxnLst/>
            <a:rect l="l" t="t" r="r" b="b"/>
            <a:pathLst>
              <a:path w="1690300" h="2453179">
                <a:moveTo>
                  <a:pt x="0" y="0"/>
                </a:moveTo>
                <a:lnTo>
                  <a:pt x="1690300" y="0"/>
                </a:lnTo>
                <a:lnTo>
                  <a:pt x="1690300" y="2453179"/>
                </a:lnTo>
                <a:lnTo>
                  <a:pt x="0" y="24531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48596" y="1720817"/>
            <a:ext cx="1512822" cy="2641794"/>
          </a:xfrm>
          <a:custGeom>
            <a:avLst/>
            <a:gdLst/>
            <a:ahLst/>
            <a:cxnLst/>
            <a:rect l="l" t="t" r="r" b="b"/>
            <a:pathLst>
              <a:path w="1512822" h="2641794">
                <a:moveTo>
                  <a:pt x="0" y="0"/>
                </a:moveTo>
                <a:lnTo>
                  <a:pt x="1512823" y="0"/>
                </a:lnTo>
                <a:lnTo>
                  <a:pt x="1512823" y="2641794"/>
                </a:lnTo>
                <a:lnTo>
                  <a:pt x="0" y="2641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046683"/>
            <a:ext cx="7928998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09"/>
              </a:lnSpc>
            </a:pPr>
            <a:r>
              <a:rPr lang="en-US" sz="6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447625"/>
            <a:ext cx="7470489" cy="2865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4"/>
              </a:lnSpc>
              <a:spcBef>
                <a:spcPct val="0"/>
              </a:spcBef>
            </a:pPr>
            <a:r>
              <a:rPr lang="en-US" sz="26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Scan, Compare, Save - MediMap puts real-time prescription price comparison at your fingertips. Simply scan your prescription to instantly see prices at nearby pharmacies, complete with wait times and available coupons.</a:t>
            </a:r>
          </a:p>
        </p:txBody>
      </p:sp>
      <p:grpSp>
        <p:nvGrpSpPr>
          <p:cNvPr id="12" name="Group 12"/>
          <p:cNvGrpSpPr/>
          <p:nvPr/>
        </p:nvGrpSpPr>
        <p:grpSpPr>
          <a:xfrm rot="-2161630">
            <a:off x="-3411004" y="8298540"/>
            <a:ext cx="11806013" cy="10145793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0933" y="1244938"/>
            <a:ext cx="3177797" cy="2730919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46596" y="1396611"/>
            <a:ext cx="2786470" cy="2427572"/>
            <a:chOff x="0" y="0"/>
            <a:chExt cx="6350000" cy="5532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390747" y="1528747"/>
            <a:ext cx="2498167" cy="2163300"/>
            <a:chOff x="0" y="0"/>
            <a:chExt cx="4282440" cy="3708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536" r="-35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034954" y="1028700"/>
            <a:ext cx="7209218" cy="4942481"/>
            <a:chOff x="0" y="0"/>
            <a:chExt cx="6350000" cy="4353420"/>
          </a:xfrm>
        </p:grpSpPr>
        <p:sp>
          <p:nvSpPr>
            <p:cNvPr id="10" name="Freeform 10"/>
            <p:cNvSpPr/>
            <p:nvPr/>
          </p:nvSpPr>
          <p:spPr>
            <a:xfrm>
              <a:off x="0" y="82550"/>
              <a:ext cx="6350000" cy="4269601"/>
            </a:xfrm>
            <a:custGeom>
              <a:avLst/>
              <a:gdLst/>
              <a:ahLst/>
              <a:cxnLst/>
              <a:rect l="l" t="t" r="r" b="b"/>
              <a:pathLst>
                <a:path w="6350000" h="4269601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4269601"/>
                  </a:lnTo>
                  <a:lnTo>
                    <a:pt x="6350000" y="4269601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id="11" name="Freeform 11"/>
          <p:cNvSpPr/>
          <p:nvPr/>
        </p:nvSpPr>
        <p:spPr>
          <a:xfrm rot="-1039447">
            <a:off x="16879310" y="2880993"/>
            <a:ext cx="10714577" cy="10714577"/>
          </a:xfrm>
          <a:custGeom>
            <a:avLst/>
            <a:gdLst/>
            <a:ahLst/>
            <a:cxnLst/>
            <a:rect l="l" t="t" r="r" b="b"/>
            <a:pathLst>
              <a:path w="10714577" h="10714577">
                <a:moveTo>
                  <a:pt x="0" y="0"/>
                </a:moveTo>
                <a:lnTo>
                  <a:pt x="10714577" y="0"/>
                </a:lnTo>
                <a:lnTo>
                  <a:pt x="10714577" y="10714577"/>
                </a:lnTo>
                <a:lnTo>
                  <a:pt x="0" y="107145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5400000">
            <a:off x="3688278" y="4702406"/>
            <a:ext cx="1896316" cy="7215472"/>
            <a:chOff x="0" y="0"/>
            <a:chExt cx="1243904" cy="47330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3904" cy="4733047"/>
            </a:xfrm>
            <a:custGeom>
              <a:avLst/>
              <a:gdLst/>
              <a:ahLst/>
              <a:cxnLst/>
              <a:rect l="l" t="t" r="r" b="b"/>
              <a:pathLst>
                <a:path w="1243904" h="4733047">
                  <a:moveTo>
                    <a:pt x="1080074" y="0"/>
                  </a:moveTo>
                  <a:lnTo>
                    <a:pt x="0" y="0"/>
                  </a:lnTo>
                  <a:lnTo>
                    <a:pt x="0" y="4733047"/>
                  </a:lnTo>
                  <a:lnTo>
                    <a:pt x="76200" y="4733047"/>
                  </a:lnTo>
                  <a:lnTo>
                    <a:pt x="76200" y="76200"/>
                  </a:lnTo>
                  <a:lnTo>
                    <a:pt x="1243904" y="76200"/>
                  </a:lnTo>
                  <a:lnTo>
                    <a:pt x="1243904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484352" y="1215636"/>
            <a:ext cx="6033056" cy="1110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13"/>
              </a:lnSpc>
              <a:spcBef>
                <a:spcPct val="0"/>
              </a:spcBef>
            </a:pPr>
            <a:r>
              <a:rPr lang="en-US" sz="615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WHO WE SERVE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4352" y="2756840"/>
            <a:ext cx="6366431" cy="2399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MediMap is designed for those who need it most—people facing real barriers to affordable medication. Our target users share a common challenge: stretching limited budgets while managing essential prescriptions.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09691" y="4073629"/>
            <a:ext cx="3196519" cy="3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84"/>
              </a:lnSpc>
              <a:spcBef>
                <a:spcPct val="0"/>
              </a:spcBef>
            </a:pPr>
            <a:r>
              <a:rPr lang="en-US" sz="198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Elderly on Fixed Incomes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49602" y="4549512"/>
            <a:ext cx="258045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Seniors managing multiple medications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371729" y="1324576"/>
            <a:ext cx="3177797" cy="3851944"/>
            <a:chOff x="0" y="0"/>
            <a:chExt cx="4237062" cy="5135926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4237062" cy="3641225"/>
              <a:chOff x="0" y="0"/>
              <a:chExt cx="812800" cy="698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60885" y="202231"/>
              <a:ext cx="3715293" cy="3236763"/>
              <a:chOff x="0" y="0"/>
              <a:chExt cx="6350000" cy="55321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553212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532120">
                    <a:moveTo>
                      <a:pt x="4762500" y="0"/>
                    </a:moveTo>
                    <a:lnTo>
                      <a:pt x="1587500" y="0"/>
                    </a:lnTo>
                    <a:lnTo>
                      <a:pt x="0" y="2766060"/>
                    </a:lnTo>
                    <a:lnTo>
                      <a:pt x="1587500" y="5532120"/>
                    </a:lnTo>
                    <a:lnTo>
                      <a:pt x="4762500" y="5532120"/>
                    </a:lnTo>
                    <a:lnTo>
                      <a:pt x="6350000" y="2766060"/>
                    </a:lnTo>
                    <a:lnTo>
                      <a:pt x="4762500" y="0"/>
                    </a:lnTo>
                    <a:close/>
                    <a:moveTo>
                      <a:pt x="4676140" y="5382260"/>
                    </a:moveTo>
                    <a:lnTo>
                      <a:pt x="1673860" y="5382260"/>
                    </a:lnTo>
                    <a:lnTo>
                      <a:pt x="172720" y="2766060"/>
                    </a:lnTo>
                    <a:lnTo>
                      <a:pt x="1673860" y="149860"/>
                    </a:lnTo>
                    <a:lnTo>
                      <a:pt x="4676140" y="149860"/>
                    </a:lnTo>
                    <a:lnTo>
                      <a:pt x="6177280" y="2766060"/>
                    </a:lnTo>
                    <a:lnTo>
                      <a:pt x="4676140" y="53822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453086" y="378412"/>
              <a:ext cx="3330890" cy="2884401"/>
              <a:chOff x="0" y="0"/>
              <a:chExt cx="4282440" cy="3708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3536" r="-3536"/>
                </a:stretch>
              </a:blipFill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06024" y="3677305"/>
              <a:ext cx="3825014" cy="459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84"/>
                </a:lnSpc>
                <a:spcBef>
                  <a:spcPct val="0"/>
                </a:spcBef>
              </a:pPr>
              <a:r>
                <a:rPr lang="en-US" sz="1988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Low-Income Families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225" y="4462826"/>
              <a:ext cx="3440611" cy="673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9"/>
                </a:lnSpc>
                <a:spcBef>
                  <a:spcPct val="0"/>
                </a:spcBef>
              </a:pPr>
              <a:r>
                <a:rPr lang="en-US" sz="1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Parents balancing tight budgets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291939" y="5328657"/>
            <a:ext cx="3177797" cy="3851944"/>
            <a:chOff x="0" y="0"/>
            <a:chExt cx="4237062" cy="5135926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237062" cy="3641225"/>
              <a:chOff x="0" y="0"/>
              <a:chExt cx="812800" cy="6985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60885" y="202231"/>
              <a:ext cx="3715293" cy="3236763"/>
              <a:chOff x="0" y="0"/>
              <a:chExt cx="6350000" cy="553212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350000" cy="553212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532120">
                    <a:moveTo>
                      <a:pt x="4762500" y="0"/>
                    </a:moveTo>
                    <a:lnTo>
                      <a:pt x="1587500" y="0"/>
                    </a:lnTo>
                    <a:lnTo>
                      <a:pt x="0" y="2766060"/>
                    </a:lnTo>
                    <a:lnTo>
                      <a:pt x="1587500" y="5532120"/>
                    </a:lnTo>
                    <a:lnTo>
                      <a:pt x="4762500" y="5532120"/>
                    </a:lnTo>
                    <a:lnTo>
                      <a:pt x="6350000" y="2766060"/>
                    </a:lnTo>
                    <a:lnTo>
                      <a:pt x="4762500" y="0"/>
                    </a:lnTo>
                    <a:close/>
                    <a:moveTo>
                      <a:pt x="4676140" y="5382260"/>
                    </a:moveTo>
                    <a:lnTo>
                      <a:pt x="1673860" y="5382260"/>
                    </a:lnTo>
                    <a:lnTo>
                      <a:pt x="172720" y="2766060"/>
                    </a:lnTo>
                    <a:lnTo>
                      <a:pt x="1673860" y="149860"/>
                    </a:lnTo>
                    <a:lnTo>
                      <a:pt x="4676140" y="149860"/>
                    </a:lnTo>
                    <a:lnTo>
                      <a:pt x="6177280" y="2766060"/>
                    </a:lnTo>
                    <a:lnTo>
                      <a:pt x="4676140" y="53822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4" name="Group 34"/>
            <p:cNvGrpSpPr>
              <a:grpSpLocks noChangeAspect="1"/>
            </p:cNvGrpSpPr>
            <p:nvPr/>
          </p:nvGrpSpPr>
          <p:grpSpPr>
            <a:xfrm>
              <a:off x="453086" y="378412"/>
              <a:ext cx="3330890" cy="2884401"/>
              <a:chOff x="0" y="0"/>
              <a:chExt cx="4282440" cy="3708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3536" r="-3536"/>
                </a:stretch>
              </a:blipFill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206024" y="3677305"/>
              <a:ext cx="3825014" cy="459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84"/>
                </a:lnSpc>
                <a:spcBef>
                  <a:spcPct val="0"/>
                </a:spcBef>
              </a:pPr>
              <a:r>
                <a:rPr lang="en-US" sz="1988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Caregivers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225" y="4462826"/>
              <a:ext cx="3440611" cy="673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9"/>
                </a:lnSpc>
                <a:spcBef>
                  <a:spcPct val="0"/>
                </a:spcBef>
              </a:pPr>
              <a:r>
                <a:rPr lang="en-US" sz="1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Managing multiple prescriptions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99540">
            <a:off x="-2867334" y="-4361769"/>
            <a:ext cx="12335518" cy="12335518"/>
          </a:xfrm>
          <a:custGeom>
            <a:avLst/>
            <a:gdLst/>
            <a:ahLst/>
            <a:cxnLst/>
            <a:rect l="l" t="t" r="r" b="b"/>
            <a:pathLst>
              <a:path w="12335518" h="12335518">
                <a:moveTo>
                  <a:pt x="0" y="0"/>
                </a:moveTo>
                <a:lnTo>
                  <a:pt x="12335518" y="0"/>
                </a:lnTo>
                <a:lnTo>
                  <a:pt x="12335518" y="12335518"/>
                </a:lnTo>
                <a:lnTo>
                  <a:pt x="0" y="1233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6270936" y="1476190"/>
            <a:ext cx="10511311" cy="10511311"/>
          </a:xfrm>
          <a:custGeom>
            <a:avLst/>
            <a:gdLst/>
            <a:ahLst/>
            <a:cxnLst/>
            <a:rect l="l" t="t" r="r" b="b"/>
            <a:pathLst>
              <a:path w="10511311" h="10511311">
                <a:moveTo>
                  <a:pt x="0" y="0"/>
                </a:moveTo>
                <a:lnTo>
                  <a:pt x="10511311" y="0"/>
                </a:lnTo>
                <a:lnTo>
                  <a:pt x="10511311" y="10511311"/>
                </a:lnTo>
                <a:lnTo>
                  <a:pt x="0" y="10511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136969"/>
            <a:ext cx="5673969" cy="112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15"/>
              </a:lnSpc>
              <a:spcBef>
                <a:spcPct val="0"/>
              </a:spcBef>
            </a:pPr>
            <a:r>
              <a:rPr lang="en-US" sz="629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75316"/>
            <a:ext cx="6084508" cy="238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  <a:spcBef>
                <a:spcPct val="0"/>
              </a:spcBef>
            </a:pPr>
            <a:r>
              <a:rPr lang="en-US" sz="26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MediMap combines smart technology with user-friendly design to make prescription savings accessible to everyone, everywhere.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14875" y="3251269"/>
            <a:ext cx="6269560" cy="156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  <a:spcBef>
                <a:spcPct val="0"/>
              </a:spcBef>
            </a:pPr>
            <a:r>
              <a:rPr lang="en-US" sz="2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Prescription Analysis feature in MediMap helps users better understand their prescribed medications and make informed decisions about purchasing them.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14875" y="2295567"/>
            <a:ext cx="5078166" cy="50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</a:pPr>
            <a:r>
              <a:rPr lang="en-US" sz="2873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PRESCRIPTION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14875" y="6674695"/>
            <a:ext cx="5939625" cy="156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  <a:spcBef>
                <a:spcPct val="0"/>
              </a:spcBef>
            </a:pPr>
            <a:r>
              <a:rPr lang="en-US" sz="2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 real-time prices, current wait times, and pharmacy locations on an easy-to-read map. Compare options at a glance and find your best route.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4875" y="5715760"/>
            <a:ext cx="4121916" cy="50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</a:pPr>
            <a:r>
              <a:rPr lang="en-US" sz="2873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05926" y="3004515"/>
            <a:ext cx="14564970" cy="14564970"/>
          </a:xfrm>
          <a:custGeom>
            <a:avLst/>
            <a:gdLst/>
            <a:ahLst/>
            <a:cxnLst/>
            <a:rect l="l" t="t" r="r" b="b"/>
            <a:pathLst>
              <a:path w="14564970" h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38531" y="-9798397"/>
            <a:ext cx="14564970" cy="14564970"/>
          </a:xfrm>
          <a:custGeom>
            <a:avLst/>
            <a:gdLst/>
            <a:ahLst/>
            <a:cxnLst/>
            <a:rect l="l" t="t" r="r" b="b"/>
            <a:pathLst>
              <a:path w="14564970" h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76754" y="2404938"/>
            <a:ext cx="6271906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4"/>
              </a:lnSpc>
            </a:pPr>
            <a:r>
              <a:rPr lang="en-US" sz="69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MEDIMAP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59044" y="5525388"/>
            <a:ext cx="5028150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Pricing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59044" y="6312643"/>
            <a:ext cx="5028150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Pharmacy Locator 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59044" y="7099898"/>
            <a:ext cx="5028150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Wait Time Estimates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59044" y="7887153"/>
            <a:ext cx="5028150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Sharp Tokens (Upcoming)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59044" y="8674407"/>
            <a:ext cx="5028150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Price History Tracking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6288" y="5525388"/>
            <a:ext cx="5926635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Save Favorite Pharmacies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6288" y="6312643"/>
            <a:ext cx="5931158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Accessibility Modes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6288" y="7099898"/>
            <a:ext cx="5926635" cy="3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Multi-Language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43958">
            <a:off x="-3352800" y="4379009"/>
            <a:ext cx="10444938" cy="11358781"/>
          </a:xfrm>
          <a:custGeom>
            <a:avLst/>
            <a:gdLst/>
            <a:ahLst/>
            <a:cxnLst/>
            <a:rect l="l" t="t" r="r" b="b"/>
            <a:pathLst>
              <a:path w="10444938" h="11358781">
                <a:moveTo>
                  <a:pt x="0" y="0"/>
                </a:moveTo>
                <a:lnTo>
                  <a:pt x="10444938" y="0"/>
                </a:lnTo>
                <a:lnTo>
                  <a:pt x="10444938" y="11358782"/>
                </a:lnTo>
                <a:lnTo>
                  <a:pt x="0" y="11358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003076" y="790279"/>
            <a:ext cx="16848517" cy="1669673"/>
          </a:xfrm>
          <a:custGeom>
            <a:avLst/>
            <a:gdLst/>
            <a:ahLst/>
            <a:cxnLst/>
            <a:rect l="l" t="t" r="r" b="b"/>
            <a:pathLst>
              <a:path w="16848517" h="1669673">
                <a:moveTo>
                  <a:pt x="16848517" y="0"/>
                </a:moveTo>
                <a:lnTo>
                  <a:pt x="0" y="0"/>
                </a:lnTo>
                <a:lnTo>
                  <a:pt x="0" y="1669673"/>
                </a:lnTo>
                <a:lnTo>
                  <a:pt x="16848517" y="1669673"/>
                </a:lnTo>
                <a:lnTo>
                  <a:pt x="168485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67717" y="1094628"/>
            <a:ext cx="11152566" cy="1061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64"/>
              </a:lnSpc>
            </a:pPr>
            <a:r>
              <a:rPr lang="en-US" sz="699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OPPORTUNITY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3500" y="3380469"/>
            <a:ext cx="8475614" cy="308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prescription affordability crisis affects millions of Peoples who struggle to pay for essential medications. Our target market represents a massive underserved population actively seeking solutions to compare and reduce their prescription costs.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863" y="2393546"/>
            <a:ext cx="9605893" cy="8270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940236"/>
            <a:ext cx="7338049" cy="308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MediMap users can expect to save 30-40% annually on prescription costs. As our community grows, so does the accuracy of real-time pricing data, creating a positive feedback loop of savings.</a:t>
            </a:r>
          </a:p>
        </p:txBody>
      </p:sp>
      <p:sp>
        <p:nvSpPr>
          <p:cNvPr id="3" name="Freeform 3"/>
          <p:cNvSpPr/>
          <p:nvPr/>
        </p:nvSpPr>
        <p:spPr>
          <a:xfrm rot="2700000" flipH="1" flipV="1">
            <a:off x="10168747" y="-5197216"/>
            <a:ext cx="12789569" cy="10394432"/>
          </a:xfrm>
          <a:custGeom>
            <a:avLst/>
            <a:gdLst/>
            <a:ahLst/>
            <a:cxnLst/>
            <a:rect l="l" t="t" r="r" b="b"/>
            <a:pathLst>
              <a:path w="12789569" h="10394432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643211">
            <a:off x="-2385201" y="6220695"/>
            <a:ext cx="9797381" cy="9797381"/>
          </a:xfrm>
          <a:custGeom>
            <a:avLst/>
            <a:gdLst/>
            <a:ahLst/>
            <a:cxnLst/>
            <a:rect l="l" t="t" r="r" b="b"/>
            <a:pathLst>
              <a:path w="9797381" h="9797381">
                <a:moveTo>
                  <a:pt x="0" y="0"/>
                </a:moveTo>
                <a:lnTo>
                  <a:pt x="9797381" y="0"/>
                </a:lnTo>
                <a:lnTo>
                  <a:pt x="9797381" y="9797381"/>
                </a:lnTo>
                <a:lnTo>
                  <a:pt x="0" y="9797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42544" y="2780134"/>
            <a:ext cx="8487094" cy="5869579"/>
          </a:xfrm>
          <a:custGeom>
            <a:avLst/>
            <a:gdLst/>
            <a:ahLst/>
            <a:cxnLst/>
            <a:rect l="l" t="t" r="r" b="b"/>
            <a:pathLst>
              <a:path w="8487094" h="5869579">
                <a:moveTo>
                  <a:pt x="0" y="0"/>
                </a:moveTo>
                <a:lnTo>
                  <a:pt x="8487095" y="0"/>
                </a:lnTo>
                <a:lnTo>
                  <a:pt x="8487095" y="5869579"/>
                </a:lnTo>
                <a:lnTo>
                  <a:pt x="0" y="5869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68074"/>
            <a:ext cx="8067311" cy="115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1"/>
              </a:lnSpc>
              <a:spcBef>
                <a:spcPct val="0"/>
              </a:spcBef>
            </a:pPr>
            <a:r>
              <a:rPr lang="en-US" sz="637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PROJECTED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7362" y="2360581"/>
            <a:ext cx="8440865" cy="5000532"/>
            <a:chOff x="0" y="0"/>
            <a:chExt cx="11254486" cy="666737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892" r="1892"/>
            <a:stretch>
              <a:fillRect/>
            </a:stretch>
          </p:blipFill>
          <p:spPr>
            <a:xfrm>
              <a:off x="0" y="0"/>
              <a:ext cx="11254486" cy="6667376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028700" y="3328924"/>
            <a:ext cx="6220099" cy="389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2"/>
              </a:lnSpc>
              <a:spcBef>
                <a:spcPct val="0"/>
              </a:spcBef>
            </a:pPr>
            <a:r>
              <a:rPr lang="en-US" sz="27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envision a world where medication affordability is never a barrier to health. Through transparent pricing and community-powered data, MediMap empowers everyone to access the medications they need without financial stress.</a:t>
            </a:r>
          </a:p>
        </p:txBody>
      </p:sp>
      <p:sp>
        <p:nvSpPr>
          <p:cNvPr id="5" name="Freeform 5"/>
          <p:cNvSpPr/>
          <p:nvPr/>
        </p:nvSpPr>
        <p:spPr>
          <a:xfrm rot="-587700">
            <a:off x="9242186" y="6541992"/>
            <a:ext cx="12426899" cy="10099680"/>
          </a:xfrm>
          <a:custGeom>
            <a:avLst/>
            <a:gdLst/>
            <a:ahLst/>
            <a:cxnLst/>
            <a:rect l="l" t="t" r="r" b="b"/>
            <a:pathLst>
              <a:path w="12426899" h="10099680">
                <a:moveTo>
                  <a:pt x="0" y="0"/>
                </a:moveTo>
                <a:lnTo>
                  <a:pt x="12426899" y="0"/>
                </a:lnTo>
                <a:lnTo>
                  <a:pt x="12426899" y="10099680"/>
                </a:lnTo>
                <a:lnTo>
                  <a:pt x="0" y="1009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-7741802" y="4884762"/>
            <a:ext cx="10762620" cy="8747075"/>
          </a:xfrm>
          <a:custGeom>
            <a:avLst/>
            <a:gdLst/>
            <a:ahLst/>
            <a:cxnLst/>
            <a:rect l="l" t="t" r="r" b="b"/>
            <a:pathLst>
              <a:path w="10762620" h="8747075">
                <a:moveTo>
                  <a:pt x="0" y="0"/>
                </a:moveTo>
                <a:lnTo>
                  <a:pt x="10762620" y="0"/>
                </a:lnTo>
                <a:lnTo>
                  <a:pt x="10762620" y="8747076"/>
                </a:lnTo>
                <a:lnTo>
                  <a:pt x="0" y="8747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639793"/>
            <a:ext cx="7545508" cy="125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  <a:spcBef>
                <a:spcPct val="0"/>
              </a:spcBef>
            </a:pPr>
            <a:r>
              <a:rPr lang="en-US" sz="69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43211">
            <a:off x="-3869990" y="6844614"/>
            <a:ext cx="9797381" cy="9797381"/>
          </a:xfrm>
          <a:custGeom>
            <a:avLst/>
            <a:gdLst/>
            <a:ahLst/>
            <a:cxnLst/>
            <a:rect l="l" t="t" r="r" b="b"/>
            <a:pathLst>
              <a:path w="9797381" h="9797381">
                <a:moveTo>
                  <a:pt x="0" y="0"/>
                </a:moveTo>
                <a:lnTo>
                  <a:pt x="9797380" y="0"/>
                </a:lnTo>
                <a:lnTo>
                  <a:pt x="9797380" y="9797381"/>
                </a:lnTo>
                <a:lnTo>
                  <a:pt x="0" y="979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356171"/>
            <a:ext cx="7545508" cy="125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  <a:spcBef>
                <a:spcPct val="0"/>
              </a:spcBef>
            </a:pPr>
            <a:r>
              <a:rPr lang="en-US" sz="69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00751" y="3829649"/>
            <a:ext cx="5939625" cy="156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  <a:spcBef>
                <a:spcPct val="0"/>
              </a:spcBef>
            </a:pPr>
            <a:r>
              <a:rPr lang="en-US" sz="2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 pharmacy-specific discounts and manufacturer coupons directly in the app. Stack savings to get the lowest possible price on your medications.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00751" y="3054921"/>
            <a:ext cx="4121916" cy="50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</a:pPr>
            <a:r>
              <a:rPr lang="en-US" sz="2873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SHARP TOKENS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4534" y="3054921"/>
            <a:ext cx="4121916" cy="50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</a:pPr>
            <a:r>
              <a:rPr lang="en-US" sz="2873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LAST-MILE DELIVERY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4534" y="3829649"/>
            <a:ext cx="5939625" cy="234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dedicated delivery layer—partnering with local courier services—to bring affordable medication directly to the homes of homebound elderly patients or busy caregivers.</a:t>
            </a:r>
          </a:p>
          <a:p>
            <a:pPr marL="0" lvl="0" indent="0" algn="l">
              <a:lnSpc>
                <a:spcPts val="3078"/>
              </a:lnSpc>
              <a:spcBef>
                <a:spcPct val="0"/>
              </a:spcBef>
            </a:pPr>
            <a:endParaRPr lang="en-US" sz="219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34469" y="6097905"/>
            <a:ext cx="7808227" cy="50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</a:pPr>
            <a:r>
              <a:rPr lang="en-US" sz="2873" b="1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 &amp; HEALTHCARE INTEGRATION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34469" y="7069901"/>
            <a:ext cx="7808227" cy="234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  <a:spcBef>
                <a:spcPct val="0"/>
              </a:spcBef>
            </a:pPr>
            <a:r>
              <a:rPr lang="en-US" sz="2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MediMap can integrate with insurance providers, hospitals, and telemedicine platforms to automatically import digital prescriptions. This enables seamless medicine price comparison and helps users choose the most cost-effective pharmacy option.</a:t>
            </a:r>
          </a:p>
          <a:p>
            <a:pPr marL="0" lvl="0" indent="0" algn="l">
              <a:lnSpc>
                <a:spcPts val="3078"/>
              </a:lnSpc>
              <a:spcBef>
                <a:spcPct val="0"/>
              </a:spcBef>
            </a:pPr>
            <a:endParaRPr lang="en-US" sz="219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91458">
            <a:off x="14642159" y="-7232502"/>
            <a:ext cx="15191719" cy="15191719"/>
          </a:xfrm>
          <a:custGeom>
            <a:avLst/>
            <a:gdLst/>
            <a:ahLst/>
            <a:cxnLst/>
            <a:rect l="l" t="t" r="r" b="b"/>
            <a:pathLst>
              <a:path w="15191719" h="15191719">
                <a:moveTo>
                  <a:pt x="0" y="0"/>
                </a:moveTo>
                <a:lnTo>
                  <a:pt x="15191719" y="0"/>
                </a:lnTo>
                <a:lnTo>
                  <a:pt x="15191719" y="15191719"/>
                </a:lnTo>
                <a:lnTo>
                  <a:pt x="0" y="1519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291458">
            <a:off x="-11545878" y="2327783"/>
            <a:ext cx="15191719" cy="15191719"/>
          </a:xfrm>
          <a:custGeom>
            <a:avLst/>
            <a:gdLst/>
            <a:ahLst/>
            <a:cxnLst/>
            <a:rect l="l" t="t" r="r" b="b"/>
            <a:pathLst>
              <a:path w="15191719" h="15191719">
                <a:moveTo>
                  <a:pt x="0" y="0"/>
                </a:moveTo>
                <a:lnTo>
                  <a:pt x="15191719" y="0"/>
                </a:lnTo>
                <a:lnTo>
                  <a:pt x="15191719" y="15191719"/>
                </a:lnTo>
                <a:lnTo>
                  <a:pt x="0" y="1519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98001" y="3038665"/>
            <a:ext cx="12091998" cy="2447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901"/>
              </a:lnSpc>
              <a:spcBef>
                <a:spcPct val="0"/>
              </a:spcBef>
            </a:pPr>
            <a:r>
              <a:rPr lang="en-US" sz="1350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58489" y="5295822"/>
            <a:ext cx="9971022" cy="372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55"/>
              </a:lnSpc>
              <a:spcBef>
                <a:spcPct val="0"/>
              </a:spcBef>
            </a:pPr>
            <a:r>
              <a:rPr lang="en-US" sz="6967">
                <a:solidFill>
                  <a:srgbClr val="314FDD"/>
                </a:solidFill>
                <a:latin typeface="Poppins"/>
                <a:ea typeface="Poppins"/>
                <a:cs typeface="Poppins"/>
                <a:sym typeface="Poppins"/>
              </a:rPr>
              <a:t>LET'S MAKE HEALTHCARE AFFORDABLE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Custom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Dhanveen mehta</cp:lastModifiedBy>
  <cp:revision>1</cp:revision>
  <dcterms:modified xsi:type="dcterms:W3CDTF">2026-03-15T03:21:45Z</dcterms:modified>
</cp:coreProperties>
</file>